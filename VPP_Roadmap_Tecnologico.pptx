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57" r:id="rId4"/>
    <p:sldId id="268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5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3242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5.png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0.png"/><Relationship Id="rId5" Type="http://schemas.openxmlformats.org/officeDocument/2006/relationships/image" Target="../media/image15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19" Type="http://schemas.openxmlformats.org/officeDocument/2006/relationships/image" Target="../media/image1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10" Type="http://schemas.openxmlformats.org/officeDocument/2006/relationships/image" Target="../media/image3.png"/><Relationship Id="rId4" Type="http://schemas.openxmlformats.org/officeDocument/2006/relationships/image" Target="../media/image16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Agrupar 34">
            <a:extLst>
              <a:ext uri="{FF2B5EF4-FFF2-40B4-BE49-F238E27FC236}">
                <a16:creationId xmlns:a16="http://schemas.microsoft.com/office/drawing/2014/main" id="{AAB2CC43-FEBE-A013-9098-2DDAC6294944}"/>
              </a:ext>
            </a:extLst>
          </p:cNvPr>
          <p:cNvGrpSpPr/>
          <p:nvPr/>
        </p:nvGrpSpPr>
        <p:grpSpPr>
          <a:xfrm flipV="1">
            <a:off x="7923280" y="4357318"/>
            <a:ext cx="1223132" cy="786181"/>
            <a:chOff x="8082117" y="0"/>
            <a:chExt cx="4109883" cy="1453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6" name="Espaço Reservado para Conteúdo 4">
              <a:extLst>
                <a:ext uri="{FF2B5EF4-FFF2-40B4-BE49-F238E27FC236}">
                  <a16:creationId xmlns:a16="http://schemas.microsoft.com/office/drawing/2014/main" id="{4922C958-9CC8-EFFB-FBAB-D5C0EDE4D8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2117" y="0"/>
              <a:ext cx="4109883" cy="1453943"/>
            </a:xfrm>
            <a:prstGeom prst="rect">
              <a:avLst/>
            </a:prstGeom>
          </p:spPr>
        </p:pic>
        <p:sp>
          <p:nvSpPr>
            <p:cNvPr id="37" name="Retângulo 36">
              <a:extLst>
                <a:ext uri="{FF2B5EF4-FFF2-40B4-BE49-F238E27FC236}">
                  <a16:creationId xmlns:a16="http://schemas.microsoft.com/office/drawing/2014/main" id="{8E487E33-F80D-C884-9AE1-2E8FF17E8303}"/>
                </a:ext>
              </a:extLst>
            </p:cNvPr>
            <p:cNvSpPr/>
            <p:nvPr/>
          </p:nvSpPr>
          <p:spPr>
            <a:xfrm>
              <a:off x="8824823" y="331635"/>
              <a:ext cx="3055286" cy="6864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6858000" y="2743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858000" y="64008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0" y="10058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7223760" y="2743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223760" y="64008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223760" y="10058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223760" y="13716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7589520" y="2743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0" y="64008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589520" y="10058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589520" y="13716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955280" y="2743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955280" y="64008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955280" y="10058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955280" y="13716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321040" y="2743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8321040" y="64008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321040" y="10058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321040" y="13716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686800" y="27432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686800" y="64008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686800" y="100584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8686800" y="1371600"/>
            <a:ext cx="64008" cy="64008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20040" y="118872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VPP Control Center</a:t>
            </a:r>
            <a:endParaRPr lang="en-US" sz="5200" dirty="0"/>
          </a:p>
        </p:txBody>
      </p:sp>
      <p:sp>
        <p:nvSpPr>
          <p:cNvPr id="30" name="Text 27"/>
          <p:cNvSpPr/>
          <p:nvPr/>
        </p:nvSpPr>
        <p:spPr>
          <a:xfrm>
            <a:off x="320040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Virtual Power Plant para </a:t>
            </a:r>
            <a:r>
              <a:rPr lang="en-US" sz="170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</a:t>
            </a:r>
            <a:r>
              <a:rPr lang="en-US" sz="170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Energia </a:t>
            </a:r>
            <a:r>
              <a:rPr lang="en-US" sz="1700" dirty="0" err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Elétrica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320040" y="3291840"/>
            <a:ext cx="36576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320040" y="3474720"/>
            <a:ext cx="731520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Aluno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Leonardo Jaime Machado Simões</a:t>
            </a:r>
            <a:endParaRPr lang="en-US" sz="1300" dirty="0"/>
          </a:p>
        </p:txBody>
      </p:sp>
      <p:pic>
        <p:nvPicPr>
          <p:cNvPr id="2050" name="Picture 2" descr="Universidade Federal da Bahia – UFBA – Física Nuclear e Aplicações –  464898/2014-5">
            <a:extLst>
              <a:ext uri="{FF2B5EF4-FFF2-40B4-BE49-F238E27FC236}">
                <a16:creationId xmlns:a16="http://schemas.microsoft.com/office/drawing/2014/main" id="{5BDEEEFC-C042-921D-F105-770376AAB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3570" y="4365375"/>
            <a:ext cx="826431" cy="8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942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Desafios do </a:t>
            </a:r>
            <a:r>
              <a:rPr lang="en-US" sz="2000" b="1" dirty="0" err="1">
                <a:solidFill>
                  <a:srgbClr val="FFFFFF"/>
                </a:solidFill>
              </a:rPr>
              <a:t>Setor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  <a:r>
              <a:rPr lang="en-US" sz="2000" b="1" dirty="0" err="1">
                <a:solidFill>
                  <a:srgbClr val="FFFFFF"/>
                </a:solidFill>
              </a:rPr>
              <a:t>Elétrico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1E293B"/>
                </a:solidFill>
              </a:rPr>
              <a:t>Crescimento Massivo de REDs</a:t>
            </a:r>
          </a:p>
        </p:txBody>
      </p:sp>
      <p:sp>
        <p:nvSpPr>
          <p:cNvPr id="9" name="Text 6"/>
          <p:cNvSpPr/>
          <p:nvPr/>
        </p:nvSpPr>
        <p:spPr>
          <a:xfrm>
            <a:off x="457200" y="2011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dirty="0">
                <a:solidFill>
                  <a:srgbClr val="EF4444"/>
                </a:solidFill>
              </a:rPr>
              <a:t>Explosão Solar &amp; BESS</a:t>
            </a:r>
          </a:p>
        </p:txBody>
      </p:sp>
      <p:sp>
        <p:nvSpPr>
          <p:cNvPr id="10" name="Text 7"/>
          <p:cNvSpPr/>
          <p:nvPr/>
        </p:nvSpPr>
        <p:spPr>
          <a:xfrm>
            <a:off x="457200" y="22585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64748B"/>
                </a:solidFill>
              </a:rPr>
              <a:t>Expansão acelerada da GD e sistemas de armazenamento cria alta complexidade operacional nas redes</a:t>
            </a:r>
          </a:p>
        </p:txBody>
      </p:sp>
      <p:sp>
        <p:nvSpPr>
          <p:cNvPr id="11" name="Text 8"/>
          <p:cNvSpPr/>
          <p:nvPr/>
        </p:nvSpPr>
        <p:spPr>
          <a:xfrm>
            <a:off x="457200" y="2761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dirty="0">
                <a:solidFill>
                  <a:srgbClr val="EF4444"/>
                </a:solidFill>
              </a:rPr>
              <a:t>Fluxos Bidirecionais &amp; Inércia</a:t>
            </a:r>
          </a:p>
        </p:txBody>
      </p:sp>
      <p:sp>
        <p:nvSpPr>
          <p:cNvPr id="12" name="Text 9"/>
          <p:cNvSpPr/>
          <p:nvPr/>
        </p:nvSpPr>
        <p:spPr>
          <a:xfrm>
            <a:off x="457200" y="300837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64748B"/>
                </a:solidFill>
              </a:rPr>
              <a:t>Potência reversa e redução de inércia comprometem a segurança e a estabilidade do sistema</a:t>
            </a:r>
          </a:p>
        </p:txBody>
      </p:sp>
      <p:sp>
        <p:nvSpPr>
          <p:cNvPr id="13" name="Text 10"/>
          <p:cNvSpPr/>
          <p:nvPr/>
        </p:nvSpPr>
        <p:spPr>
          <a:xfrm>
            <a:off x="457200" y="35112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dirty="0">
                <a:solidFill>
                  <a:srgbClr val="EF4444"/>
                </a:solidFill>
              </a:rPr>
              <a:t>Curtailment &amp; Qualidade</a:t>
            </a:r>
          </a:p>
        </p:txBody>
      </p:sp>
      <p:sp>
        <p:nvSpPr>
          <p:cNvPr id="14" name="Text 11"/>
          <p:cNvSpPr/>
          <p:nvPr/>
        </p:nvSpPr>
        <p:spPr>
          <a:xfrm>
            <a:off x="457200" y="375818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64748B"/>
                </a:solidFill>
              </a:rPr>
              <a:t>Intermitência das fontes gera cortes forçados e impactos diretos na qualidade de energia entregue</a:t>
            </a:r>
          </a:p>
        </p:txBody>
      </p:sp>
      <p:sp>
        <p:nvSpPr>
          <p:cNvPr id="15" name="Text 12"/>
          <p:cNvSpPr/>
          <p:nvPr/>
        </p:nvSpPr>
        <p:spPr>
          <a:xfrm>
            <a:off x="457200" y="42611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b="1" dirty="0">
                <a:solidFill>
                  <a:srgbClr val="EF4444"/>
                </a:solidFill>
              </a:rPr>
              <a:t>DEC / FEC violados</a:t>
            </a:r>
          </a:p>
        </p:txBody>
      </p:sp>
      <p:sp>
        <p:nvSpPr>
          <p:cNvPr id="16" name="Text 13"/>
          <p:cNvSpPr/>
          <p:nvPr/>
        </p:nvSpPr>
        <p:spPr>
          <a:xfrm>
            <a:off x="457200" y="450799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00" dirty="0">
                <a:solidFill>
                  <a:srgbClr val="64748B"/>
                </a:solidFill>
              </a:rPr>
              <a:t>Indicadores de continuidade acima do limite ANEEL geram compensações compulsórias</a:t>
            </a:r>
          </a:p>
        </p:txBody>
      </p:sp>
      <p:sp>
        <p:nvSpPr>
          <p:cNvPr id="17" name="Shape 14"/>
          <p:cNvSpPr/>
          <p:nvPr/>
        </p:nvSpPr>
        <p:spPr>
          <a:xfrm>
            <a:off x="4937760" y="914400"/>
            <a:ext cx="3931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4937760" y="914400"/>
            <a:ext cx="3931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051560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20640" y="15087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dirty="0">
                <a:solidFill>
                  <a:srgbClr val="1E293B"/>
                </a:solidFill>
              </a:rPr>
              <a:t>O Setor Reconhece o Problema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F2A160C0-3E7D-A248-78CF-0ABC37B629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500" y="1960880"/>
            <a:ext cx="3746500" cy="2982613"/>
          </a:xfrm>
          <a:prstGeom prst="rect">
            <a:avLst/>
          </a:prstGeom>
        </p:spPr>
      </p:pic>
      <p:grpSp>
        <p:nvGrpSpPr>
          <p:cNvPr id="25" name="Agrupar 24">
            <a:extLst>
              <a:ext uri="{FF2B5EF4-FFF2-40B4-BE49-F238E27FC236}">
                <a16:creationId xmlns:a16="http://schemas.microsoft.com/office/drawing/2014/main" id="{1C8AE17D-F257-E1CA-216C-84E4652C2FFC}"/>
              </a:ext>
            </a:extLst>
          </p:cNvPr>
          <p:cNvGrpSpPr/>
          <p:nvPr/>
        </p:nvGrpSpPr>
        <p:grpSpPr>
          <a:xfrm rot="10800000" flipH="1" flipV="1">
            <a:off x="7920868" y="0"/>
            <a:ext cx="1223132" cy="786181"/>
            <a:chOff x="8082117" y="0"/>
            <a:chExt cx="4109883" cy="1453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6" name="Espaço Reservado para Conteúdo 4">
              <a:extLst>
                <a:ext uri="{FF2B5EF4-FFF2-40B4-BE49-F238E27FC236}">
                  <a16:creationId xmlns:a16="http://schemas.microsoft.com/office/drawing/2014/main" id="{A423816F-E7D7-A026-7857-E705543DE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2117" y="0"/>
              <a:ext cx="4109883" cy="1453943"/>
            </a:xfrm>
            <a:prstGeom prst="rect">
              <a:avLst/>
            </a:prstGeom>
          </p:spPr>
        </p:pic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id="{7777C04D-6C6F-C771-A1CA-68DE75071DAB}"/>
                </a:ext>
              </a:extLst>
            </p:cNvPr>
            <p:cNvSpPr/>
            <p:nvPr/>
          </p:nvSpPr>
          <p:spPr>
            <a:xfrm>
              <a:off x="8824823" y="331635"/>
              <a:ext cx="3055286" cy="6864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8" name="Picture 2" descr="Universidade Federal da Bahia – UFBA – Física Nuclear e Aplicações –  464898/2014-5">
            <a:extLst>
              <a:ext uri="{FF2B5EF4-FFF2-40B4-BE49-F238E27FC236}">
                <a16:creationId xmlns:a16="http://schemas.microsoft.com/office/drawing/2014/main" id="{DC6F1907-2634-4B97-0EE6-1698A494A6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25" y="-121994"/>
            <a:ext cx="826431" cy="8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74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O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Impacto Socioeconômico no Oeste Baiano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74320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9728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Interrupções de Energia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148840"/>
            <a:ext cx="25603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frequência de desligamentos não programados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e FEC acima das metas regulatórias da ANEEL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recursos de controle na rede de distribuição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246120" y="914400"/>
            <a:ext cx="2743200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0972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Perdas Agroindustriais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37560" y="2148840"/>
            <a:ext cx="25603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Paralisação de sistemas de irrigação durante safra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Queima de equipamentos sensíveis por subtensão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Prejuízo direto à produção de grãos (soja, algodão)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91440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6217920" y="914400"/>
            <a:ext cx="2743200" cy="914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09728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Travado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09360" y="2148840"/>
            <a:ext cx="25603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elétrica no limite da capacidade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elevado para reforço de linhas longas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Desincentivo à instalação de novos empreendimentos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/>
          <p:nvPr/>
        </p:nvSpPr>
        <p:spPr>
          <a:xfrm>
            <a:off x="274320" y="4800600"/>
            <a:ext cx="8686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Região: Alimentador REG09V2 · Coelba · Oeste Baiano · Cidade: Correntina / BA</a:t>
            </a:r>
            <a:endParaRPr lang="en-US" sz="950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29B88382-6802-D1A0-F7F0-A42820DCC7FA}"/>
              </a:ext>
            </a:extLst>
          </p:cNvPr>
          <p:cNvGrpSpPr/>
          <p:nvPr/>
        </p:nvGrpSpPr>
        <p:grpSpPr>
          <a:xfrm rot="10800000" flipH="1" flipV="1">
            <a:off x="7920868" y="0"/>
            <a:ext cx="1223132" cy="786181"/>
            <a:chOff x="8082117" y="0"/>
            <a:chExt cx="4109883" cy="1453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7" name="Espaço Reservado para Conteúdo 4">
              <a:extLst>
                <a:ext uri="{FF2B5EF4-FFF2-40B4-BE49-F238E27FC236}">
                  <a16:creationId xmlns:a16="http://schemas.microsoft.com/office/drawing/2014/main" id="{17B02494-A335-0F55-8E5B-242D1AF84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2117" y="0"/>
              <a:ext cx="4109883" cy="1453943"/>
            </a:xfrm>
            <a:prstGeom prst="rect">
              <a:avLst/>
            </a:prstGeom>
          </p:spPr>
        </p:pic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5F558F9B-4ADA-5675-BECA-7D9865D88F37}"/>
                </a:ext>
              </a:extLst>
            </p:cNvPr>
            <p:cNvSpPr/>
            <p:nvPr/>
          </p:nvSpPr>
          <p:spPr>
            <a:xfrm>
              <a:off x="8824823" y="331635"/>
              <a:ext cx="3055286" cy="6864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9" name="Picture 2" descr="Universidade Federal da Bahia – UFBA – Física Nuclear e Aplicações –  464898/2014-5">
            <a:extLst>
              <a:ext uri="{FF2B5EF4-FFF2-40B4-BE49-F238E27FC236}">
                <a16:creationId xmlns:a16="http://schemas.microsoft.com/office/drawing/2014/main" id="{DA803A0D-A4FC-DC73-3AC3-522F94B0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25" y="-121994"/>
            <a:ext cx="826431" cy="8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7498080" y="-27432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</a:rPr>
              <a:t>A SOLUÇÃO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VPP Control Center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Agregador inteligente de Recursos Energéticos Distribuídos (DERs)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operação otimizada da rede de distribuição radial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2743200" cy="2606040"/>
          </a:xfrm>
          <a:prstGeom prst="rect">
            <a:avLst/>
          </a:prstGeom>
          <a:solidFill>
            <a:srgbClr val="112233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74320" y="2240280"/>
            <a:ext cx="2743200" cy="7315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77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API do DSO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6576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77B6"/>
                </a:solidFill>
              </a:rPr>
              <a:t>Interface com a </a:t>
            </a:r>
            <a:r>
              <a:rPr lang="en-US" sz="1000" dirty="0" err="1">
                <a:solidFill>
                  <a:srgbClr val="0077B6"/>
                </a:solidFill>
              </a:rPr>
              <a:t>distribuidora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3479800"/>
            <a:ext cx="256032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Char char="•"/>
            </a:pPr>
            <a:r>
              <a:rPr lang="pt-BR" sz="1050" b="1" dirty="0">
                <a:solidFill>
                  <a:srgbClr val="FFFFFF"/>
                </a:solidFill>
              </a:rPr>
              <a:t>BDGD:</a:t>
            </a:r>
            <a:r>
              <a:rPr lang="pt-BR" sz="1000" dirty="0">
                <a:solidFill>
                  <a:srgbClr val="94A3B8"/>
                </a:solidFill>
              </a:rPr>
              <a:t>  telemetria de alimentadores e barras</a:t>
            </a:r>
          </a:p>
          <a:p>
            <a:pPr marL="114300" indent="-114300">
              <a:buChar char="•"/>
            </a:pPr>
            <a:r>
              <a:rPr lang="pt-BR" sz="1050" b="1" dirty="0">
                <a:solidFill>
                  <a:srgbClr val="FFFFFF"/>
                </a:solidFill>
              </a:rPr>
              <a:t>Carga:</a:t>
            </a:r>
            <a:r>
              <a:rPr lang="pt-BR" sz="1000" dirty="0">
                <a:solidFill>
                  <a:srgbClr val="94A3B8"/>
                </a:solidFill>
              </a:rPr>
              <a:t>  estimativa e parâmetros de rede</a:t>
            </a:r>
          </a:p>
          <a:p>
            <a:pPr marL="114300" indent="-114300">
              <a:buChar char="•"/>
            </a:pPr>
            <a:r>
              <a:rPr lang="pt-BR" sz="1050" b="1" dirty="0" err="1">
                <a:solidFill>
                  <a:srgbClr val="FFFFFF"/>
                </a:solidFill>
              </a:rPr>
              <a:t>Endpoints</a:t>
            </a:r>
            <a:r>
              <a:rPr lang="pt-BR" sz="1050" b="1" dirty="0">
                <a:solidFill>
                  <a:srgbClr val="FFFFFF"/>
                </a:solidFill>
              </a:rPr>
              <a:t>:</a:t>
            </a:r>
            <a:r>
              <a:rPr lang="pt-BR" sz="1000" dirty="0">
                <a:solidFill>
                  <a:srgbClr val="94A3B8"/>
                </a:solidFill>
              </a:rPr>
              <a:t>  /dados_alimentador e /dados_barra</a:t>
            </a:r>
          </a:p>
        </p:txBody>
      </p:sp>
      <p:sp>
        <p:nvSpPr>
          <p:cNvPr id="13" name="Shape 10"/>
          <p:cNvSpPr/>
          <p:nvPr/>
        </p:nvSpPr>
        <p:spPr>
          <a:xfrm>
            <a:off x="3246120" y="2240280"/>
            <a:ext cx="2743200" cy="2606040"/>
          </a:xfrm>
          <a:prstGeom prst="rect">
            <a:avLst/>
          </a:prstGeom>
          <a:solidFill>
            <a:srgbClr val="112233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3246120" y="2240280"/>
            <a:ext cx="274320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3774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3756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Motor da VPP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333756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</a:rPr>
              <a:t>Cérebro de otimização integrado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37560" y="3479800"/>
            <a:ext cx="256032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Char char="•"/>
            </a:pPr>
            <a:r>
              <a:rPr lang="pt-BR" sz="1050" b="1" dirty="0" err="1">
                <a:solidFill>
                  <a:srgbClr val="FFFFFF"/>
                </a:solidFill>
              </a:rPr>
              <a:t>OpenDSS</a:t>
            </a:r>
            <a:r>
              <a:rPr lang="pt-BR" sz="1000" b="1" dirty="0">
                <a:solidFill>
                  <a:srgbClr val="94A3B8"/>
                </a:solidFill>
              </a:rPr>
              <a:t>:</a:t>
            </a:r>
            <a:r>
              <a:rPr lang="pt-BR" sz="1000" dirty="0">
                <a:solidFill>
                  <a:srgbClr val="94A3B8"/>
                </a:solidFill>
              </a:rPr>
              <a:t> fluxo de potência em tempo real</a:t>
            </a:r>
          </a:p>
          <a:p>
            <a:pPr marL="114300" indent="-114300">
              <a:buChar char="•"/>
            </a:pPr>
            <a:r>
              <a:rPr lang="pt-BR" sz="1050" b="1" dirty="0">
                <a:solidFill>
                  <a:srgbClr val="FFFFFF"/>
                </a:solidFill>
              </a:rPr>
              <a:t>ML:</a:t>
            </a:r>
            <a:r>
              <a:rPr lang="pt-BR" sz="1000" dirty="0">
                <a:solidFill>
                  <a:srgbClr val="94A3B8"/>
                </a:solidFill>
              </a:rPr>
              <a:t>  previsão de geração solar e carga</a:t>
            </a:r>
          </a:p>
          <a:p>
            <a:pPr marL="114300" indent="-114300">
              <a:buChar char="•"/>
            </a:pPr>
            <a:r>
              <a:rPr lang="pt-BR" sz="1050" b="1" dirty="0">
                <a:solidFill>
                  <a:srgbClr val="FFFFFF"/>
                </a:solidFill>
              </a:rPr>
              <a:t>Otimização:</a:t>
            </a:r>
            <a:r>
              <a:rPr lang="pt-BR" sz="1000" dirty="0">
                <a:solidFill>
                  <a:srgbClr val="94A3B8"/>
                </a:solidFill>
              </a:rPr>
              <a:t> despacho ótimo de BESS e inversores</a:t>
            </a:r>
          </a:p>
        </p:txBody>
      </p:sp>
      <p:sp>
        <p:nvSpPr>
          <p:cNvPr id="19" name="Shape 15"/>
          <p:cNvSpPr/>
          <p:nvPr/>
        </p:nvSpPr>
        <p:spPr>
          <a:xfrm>
            <a:off x="6217920" y="2240280"/>
            <a:ext cx="2743200" cy="2606040"/>
          </a:xfrm>
          <a:prstGeom prst="rect">
            <a:avLst/>
          </a:prstGeom>
          <a:solidFill>
            <a:srgbClr val="11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6"/>
          <p:cNvSpPr/>
          <p:nvPr/>
        </p:nvSpPr>
        <p:spPr>
          <a:xfrm>
            <a:off x="6217920" y="224028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37744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28346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Dashboard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309360" y="3200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</a:rPr>
              <a:t>Interface do </a:t>
            </a:r>
            <a:r>
              <a:rPr lang="en-US" sz="1000" dirty="0" err="1">
                <a:solidFill>
                  <a:srgbClr val="F59E0B"/>
                </a:solidFill>
              </a:rPr>
              <a:t>agregador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309360" y="3479800"/>
            <a:ext cx="256032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0" indent="-114300">
              <a:buChar char="•"/>
            </a:pPr>
            <a:r>
              <a:rPr lang="pt-BR" sz="1050" b="1" dirty="0" err="1">
                <a:solidFill>
                  <a:srgbClr val="FFFFFF"/>
                </a:solidFill>
              </a:rPr>
              <a:t>GeoMap</a:t>
            </a:r>
            <a:r>
              <a:rPr lang="pt-BR" sz="1050" b="1" dirty="0">
                <a:solidFill>
                  <a:srgbClr val="FFFFFF"/>
                </a:solidFill>
              </a:rPr>
              <a:t>:</a:t>
            </a:r>
            <a:r>
              <a:rPr lang="pt-BR" sz="1000" dirty="0">
                <a:solidFill>
                  <a:srgbClr val="94A3B8"/>
                </a:solidFill>
              </a:rPr>
              <a:t>  PyDeck/Mapbox com REDs em tempo real</a:t>
            </a:r>
          </a:p>
          <a:p>
            <a:pPr marL="114300" indent="-114300">
              <a:buChar char="•"/>
            </a:pPr>
            <a:r>
              <a:rPr lang="pt-BR" sz="1050" b="1" dirty="0">
                <a:solidFill>
                  <a:srgbClr val="FFFFFF"/>
                </a:solidFill>
              </a:rPr>
              <a:t>Telemetria:</a:t>
            </a:r>
            <a:r>
              <a:rPr lang="pt-BR" sz="1000" dirty="0">
                <a:solidFill>
                  <a:srgbClr val="94A3B8"/>
                </a:solidFill>
              </a:rPr>
              <a:t>  monitoramento contínuo da rede</a:t>
            </a:r>
          </a:p>
          <a:p>
            <a:pPr marL="114300" indent="-114300">
              <a:buChar char="•"/>
            </a:pPr>
            <a:r>
              <a:rPr lang="pt-BR" sz="1050" b="1" dirty="0">
                <a:solidFill>
                  <a:srgbClr val="FFFFFF"/>
                </a:solidFill>
              </a:rPr>
              <a:t>Relatórios: </a:t>
            </a:r>
            <a:r>
              <a:rPr lang="pt-BR" sz="1000" dirty="0">
                <a:solidFill>
                  <a:srgbClr val="94A3B8"/>
                </a:solidFill>
              </a:rPr>
              <a:t>indicadores financeiros e regulatórios</a:t>
            </a:r>
          </a:p>
        </p:txBody>
      </p:sp>
      <p:sp>
        <p:nvSpPr>
          <p:cNvPr id="25" name="Shape 20"/>
          <p:cNvSpPr/>
          <p:nvPr/>
        </p:nvSpPr>
        <p:spPr>
          <a:xfrm>
            <a:off x="3035808" y="356616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1"/>
          <p:cNvSpPr/>
          <p:nvPr/>
        </p:nvSpPr>
        <p:spPr>
          <a:xfrm>
            <a:off x="6007608" y="356616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6428A133-6148-516E-2E29-4632B8355F64}"/>
              </a:ext>
            </a:extLst>
          </p:cNvPr>
          <p:cNvGrpSpPr/>
          <p:nvPr/>
        </p:nvGrpSpPr>
        <p:grpSpPr>
          <a:xfrm rot="10800000" flipH="1" flipV="1">
            <a:off x="7920868" y="0"/>
            <a:ext cx="1223132" cy="786181"/>
            <a:chOff x="8082117" y="0"/>
            <a:chExt cx="4109883" cy="1453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5" name="Espaço Reservado para Conteúdo 4">
              <a:extLst>
                <a:ext uri="{FF2B5EF4-FFF2-40B4-BE49-F238E27FC236}">
                  <a16:creationId xmlns:a16="http://schemas.microsoft.com/office/drawing/2014/main" id="{C8C60F97-F9DB-878F-DEBA-89BD7DD88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2117" y="0"/>
              <a:ext cx="4109883" cy="1453943"/>
            </a:xfrm>
            <a:prstGeom prst="rect">
              <a:avLst/>
            </a:prstGeom>
          </p:spPr>
        </p:pic>
        <p:sp>
          <p:nvSpPr>
            <p:cNvPr id="36" name="Retângulo 35">
              <a:extLst>
                <a:ext uri="{FF2B5EF4-FFF2-40B4-BE49-F238E27FC236}">
                  <a16:creationId xmlns:a16="http://schemas.microsoft.com/office/drawing/2014/main" id="{1E14F725-9514-995B-EBCD-C6BF6AC64A20}"/>
                </a:ext>
              </a:extLst>
            </p:cNvPr>
            <p:cNvSpPr/>
            <p:nvPr/>
          </p:nvSpPr>
          <p:spPr>
            <a:xfrm>
              <a:off x="8824823" y="331635"/>
              <a:ext cx="3055286" cy="6864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37" name="Picture 2" descr="Universidade Federal da Bahia – UFBA – Física Nuclear e Aplicações –  464898/2014-5">
            <a:extLst>
              <a:ext uri="{FF2B5EF4-FFF2-40B4-BE49-F238E27FC236}">
                <a16:creationId xmlns:a16="http://schemas.microsoft.com/office/drawing/2014/main" id="{8D357F54-F6BA-5EE4-3BDB-4B454A9A6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25" y="-121994"/>
            <a:ext cx="826431" cy="8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4109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ARQUITETURA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Stack Tecnológico e Camadas do Sistema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659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96596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98755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50876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077B6"/>
                </a:solidFill>
              </a:rPr>
              <a:t>CAMADA DE DADOS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45238" y="1828800"/>
            <a:ext cx="1819656" cy="10411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BDGD (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Coelba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OpenDSS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(Modelo Elétrico)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(DSO DB + VPP DB)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40280" y="283464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2331720" y="914400"/>
            <a:ext cx="19659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2331720" y="914400"/>
            <a:ext cx="196596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20" y="98755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04872" y="150876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00B4D8"/>
                </a:solidFill>
              </a:rPr>
              <a:t>CAMADA DE API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2404872" y="1828801"/>
            <a:ext cx="1819656" cy="804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(REST)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Fornecimento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dados de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o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agregador</a:t>
            </a:r>
            <a:endParaRPr lang="en-US" sz="105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297680" y="283464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3"/>
          <p:cNvSpPr/>
          <p:nvPr/>
        </p:nvSpPr>
        <p:spPr>
          <a:xfrm>
            <a:off x="4389120" y="914400"/>
            <a:ext cx="19659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4389120" y="914400"/>
            <a:ext cx="1965960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9220" y="987552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62272" y="150876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22C55E"/>
                </a:solidFill>
              </a:rPr>
              <a:t>MOTOR VPP / IA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462272" y="1828801"/>
            <a:ext cx="1819656" cy="1414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OpenDSS (Fluxo de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Potência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 Previsão Solar e Carga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Otimizador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metaheurístico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(FPO)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Setpoints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355080" y="2834640"/>
            <a:ext cx="21031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18"/>
          <p:cNvSpPr/>
          <p:nvPr/>
        </p:nvSpPr>
        <p:spPr>
          <a:xfrm>
            <a:off x="6446520" y="914400"/>
            <a:ext cx="1965960" cy="3840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6446520" y="914400"/>
            <a:ext cx="196596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6620" y="98755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19672" y="150876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50" dirty="0">
                <a:solidFill>
                  <a:srgbClr val="F59E0B"/>
                </a:solidFill>
              </a:rPr>
              <a:t>DASHBOARD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6519672" y="1828802"/>
            <a:ext cx="1819656" cy="12987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(Frontend)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PyDeck +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(Mapa do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alimentador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Módulos: Telemetria, Previsão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Financeiros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Stack: Python 3.11 · FastAPI · SQLite · OpenDSS · Pandas · </a:t>
            </a:r>
            <a:r>
              <a:rPr lang="en-US" sz="900" i="1" dirty="0" err="1">
                <a:solidFill>
                  <a:srgbClr val="64748B"/>
                </a:solidFill>
              </a:rPr>
              <a:t>GeoPandas</a:t>
            </a:r>
            <a:r>
              <a:rPr lang="en-US" sz="900" i="1" dirty="0">
                <a:solidFill>
                  <a:srgbClr val="64748B"/>
                </a:solidFill>
              </a:rPr>
              <a:t> · Streamlit · PyDeck · DEAP / </a:t>
            </a:r>
            <a:r>
              <a:rPr lang="en-US" sz="900" i="1" dirty="0" err="1">
                <a:solidFill>
                  <a:srgbClr val="64748B"/>
                </a:solidFill>
              </a:rPr>
              <a:t>Pyswarms</a:t>
            </a:r>
            <a:r>
              <a:rPr lang="en-US" sz="900" i="1" dirty="0">
                <a:solidFill>
                  <a:srgbClr val="64748B"/>
                </a:solidFill>
              </a:rPr>
              <a:t> · scikit-learn / </a:t>
            </a:r>
            <a:r>
              <a:rPr lang="en-US" sz="900" i="1" dirty="0" err="1">
                <a:solidFill>
                  <a:srgbClr val="64748B"/>
                </a:solidFill>
              </a:rPr>
              <a:t>XGBoost</a:t>
            </a:r>
            <a:endParaRPr lang="en-US" sz="900" dirty="0"/>
          </a:p>
        </p:txBody>
      </p: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404B4E31-F2AA-1180-9C51-794B891AF3CA}"/>
              </a:ext>
            </a:extLst>
          </p:cNvPr>
          <p:cNvGrpSpPr/>
          <p:nvPr/>
        </p:nvGrpSpPr>
        <p:grpSpPr>
          <a:xfrm>
            <a:off x="629767" y="3023729"/>
            <a:ext cx="1255066" cy="491321"/>
            <a:chOff x="487680" y="2974961"/>
            <a:chExt cx="1255066" cy="491321"/>
          </a:xfrm>
        </p:grpSpPr>
        <p:pic>
          <p:nvPicPr>
            <p:cNvPr id="1028" name="Picture 4" descr="Introduction to OpenDSS">
              <a:extLst>
                <a:ext uri="{FF2B5EF4-FFF2-40B4-BE49-F238E27FC236}">
                  <a16:creationId xmlns:a16="http://schemas.microsoft.com/office/drawing/2014/main" id="{66D1CA92-5855-08D4-A8C2-9A6D8D6D1C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" y="2978602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BDGD">
              <a:extLst>
                <a:ext uri="{FF2B5EF4-FFF2-40B4-BE49-F238E27FC236}">
                  <a16:creationId xmlns:a16="http://schemas.microsoft.com/office/drawing/2014/main" id="{78E31224-06D7-0F02-417E-8A7BD02E82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5066" y="2974961"/>
              <a:ext cx="487680" cy="487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2" name="Picture 8" descr="SQLite – Wikipédia, a enciclopédia livre">
            <a:extLst>
              <a:ext uri="{FF2B5EF4-FFF2-40B4-BE49-F238E27FC236}">
                <a16:creationId xmlns:a16="http://schemas.microsoft.com/office/drawing/2014/main" id="{FC81ACB7-304B-1ECA-F584-A30D91295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605" y="3602849"/>
            <a:ext cx="885391" cy="419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FastAPI">
            <a:extLst>
              <a:ext uri="{FF2B5EF4-FFF2-40B4-BE49-F238E27FC236}">
                <a16:creationId xmlns:a16="http://schemas.microsoft.com/office/drawing/2014/main" id="{39A8964E-4E69-6ECD-94E6-10B75C8AE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872" y="3094022"/>
            <a:ext cx="1183123" cy="426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ython (programming language) - Wikipedia">
            <a:extLst>
              <a:ext uri="{FF2B5EF4-FFF2-40B4-BE49-F238E27FC236}">
                <a16:creationId xmlns:a16="http://schemas.microsoft.com/office/drawing/2014/main" id="{F87DADF6-9B73-75FC-F5C5-C7FC04615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139" y="3127531"/>
            <a:ext cx="359397" cy="359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GitHub - DEAP/deap: Distributed Evolutionary Algorithms in Python · GitHub">
            <a:extLst>
              <a:ext uri="{FF2B5EF4-FFF2-40B4-BE49-F238E27FC236}">
                <a16:creationId xmlns:a16="http://schemas.microsoft.com/office/drawing/2014/main" id="{28AFF045-CA0C-9EBE-2686-2B85B712DB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168" y="4274724"/>
            <a:ext cx="707865" cy="335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Agrupar 34">
            <a:extLst>
              <a:ext uri="{FF2B5EF4-FFF2-40B4-BE49-F238E27FC236}">
                <a16:creationId xmlns:a16="http://schemas.microsoft.com/office/drawing/2014/main" id="{75470130-BF19-63C0-8123-12BBD32F95D6}"/>
              </a:ext>
            </a:extLst>
          </p:cNvPr>
          <p:cNvGrpSpPr/>
          <p:nvPr/>
        </p:nvGrpSpPr>
        <p:grpSpPr>
          <a:xfrm>
            <a:off x="4590817" y="3774769"/>
            <a:ext cx="1562567" cy="362795"/>
            <a:chOff x="4555493" y="3774769"/>
            <a:chExt cx="1562567" cy="362795"/>
          </a:xfrm>
        </p:grpSpPr>
        <p:pic>
          <p:nvPicPr>
            <p:cNvPr id="1040" name="Picture 16">
              <a:extLst>
                <a:ext uri="{FF2B5EF4-FFF2-40B4-BE49-F238E27FC236}">
                  <a16:creationId xmlns:a16="http://schemas.microsoft.com/office/drawing/2014/main" id="{43804BBD-A528-4237-B422-E31C6E553F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5315" y="3774769"/>
              <a:ext cx="1052745" cy="3627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12" descr="Python (programming language) - Wikipedia">
              <a:extLst>
                <a:ext uri="{FF2B5EF4-FFF2-40B4-BE49-F238E27FC236}">
                  <a16:creationId xmlns:a16="http://schemas.microsoft.com/office/drawing/2014/main" id="{54EFD709-305F-846C-EC63-39025BEBCD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5493" y="3819766"/>
              <a:ext cx="272802" cy="272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D3F03BC2-8089-3420-1C21-B3D87865E84D}"/>
              </a:ext>
            </a:extLst>
          </p:cNvPr>
          <p:cNvGrpSpPr/>
          <p:nvPr/>
        </p:nvGrpSpPr>
        <p:grpSpPr>
          <a:xfrm>
            <a:off x="4478071" y="3345873"/>
            <a:ext cx="1788058" cy="335990"/>
            <a:chOff x="4523899" y="3345873"/>
            <a:chExt cx="1788058" cy="335990"/>
          </a:xfrm>
        </p:grpSpPr>
        <p:pic>
          <p:nvPicPr>
            <p:cNvPr id="1042" name="Picture 18" descr="Welcome to PySwarms's documentation! — PySwarms 1.3.0 documentation">
              <a:extLst>
                <a:ext uri="{FF2B5EF4-FFF2-40B4-BE49-F238E27FC236}">
                  <a16:creationId xmlns:a16="http://schemas.microsoft.com/office/drawing/2014/main" id="{8A6E6A7E-8503-E501-CD80-D96D66D863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4627" y="3345873"/>
              <a:ext cx="1397330" cy="335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4" descr="Introduction to OpenDSS">
              <a:extLst>
                <a:ext uri="{FF2B5EF4-FFF2-40B4-BE49-F238E27FC236}">
                  <a16:creationId xmlns:a16="http://schemas.microsoft.com/office/drawing/2014/main" id="{B83DED7E-249C-36D6-506A-0FFC6D7998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3899" y="3345873"/>
              <a:ext cx="335990" cy="3359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44" name="Picture 20" descr="Brand • Streamlit">
            <a:extLst>
              <a:ext uri="{FF2B5EF4-FFF2-40B4-BE49-F238E27FC236}">
                <a16:creationId xmlns:a16="http://schemas.microsoft.com/office/drawing/2014/main" id="{C6D6EFAC-095D-B195-6A0D-D3323742A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256" y="3103744"/>
            <a:ext cx="1252488" cy="347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Agrupar 39">
            <a:extLst>
              <a:ext uri="{FF2B5EF4-FFF2-40B4-BE49-F238E27FC236}">
                <a16:creationId xmlns:a16="http://schemas.microsoft.com/office/drawing/2014/main" id="{0C1B17A9-2404-3227-61B7-D2709B8BA116}"/>
              </a:ext>
            </a:extLst>
          </p:cNvPr>
          <p:cNvGrpSpPr/>
          <p:nvPr/>
        </p:nvGrpSpPr>
        <p:grpSpPr>
          <a:xfrm>
            <a:off x="6734481" y="3753936"/>
            <a:ext cx="1390038" cy="770235"/>
            <a:chOff x="6552952" y="3753936"/>
            <a:chExt cx="1390038" cy="770235"/>
          </a:xfrm>
        </p:grpSpPr>
        <p:pic>
          <p:nvPicPr>
            <p:cNvPr id="1048" name="Picture 24" descr="Mapbox | Revendedor Oficial no Brasil | OSB Software">
              <a:extLst>
                <a:ext uri="{FF2B5EF4-FFF2-40B4-BE49-F238E27FC236}">
                  <a16:creationId xmlns:a16="http://schemas.microsoft.com/office/drawing/2014/main" id="{59AA1DA7-820E-0159-8D45-E747CA5C91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16010" y="3753936"/>
              <a:ext cx="1026980" cy="7702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12" descr="Python (programming language) - Wikipedia">
              <a:extLst>
                <a:ext uri="{FF2B5EF4-FFF2-40B4-BE49-F238E27FC236}">
                  <a16:creationId xmlns:a16="http://schemas.microsoft.com/office/drawing/2014/main" id="{565BEBE2-1A2E-DA75-4ED2-6A4FA3C006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2952" y="4014389"/>
              <a:ext cx="292264" cy="292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8" name="Imagem 37">
            <a:extLst>
              <a:ext uri="{FF2B5EF4-FFF2-40B4-BE49-F238E27FC236}">
                <a16:creationId xmlns:a16="http://schemas.microsoft.com/office/drawing/2014/main" id="{28B9B52D-FF23-BA11-D564-34A5D170107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45217" y="3529371"/>
            <a:ext cx="1168567" cy="348267"/>
          </a:xfrm>
          <a:prstGeom prst="rect">
            <a:avLst/>
          </a:prstGeom>
        </p:spPr>
      </p:pic>
      <p:pic>
        <p:nvPicPr>
          <p:cNvPr id="1050" name="Picture 26" descr="GeoPandas 1.1.3 — GeoPandas 1.1.3+0.gf5fe3ff.dirty documentation">
            <a:extLst>
              <a:ext uri="{FF2B5EF4-FFF2-40B4-BE49-F238E27FC236}">
                <a16:creationId xmlns:a16="http://schemas.microsoft.com/office/drawing/2014/main" id="{5B677C2E-8A26-2C1C-A780-CE5CD9D8E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4309" y="4414432"/>
            <a:ext cx="1390383" cy="292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" name="Agrupar 40">
            <a:extLst>
              <a:ext uri="{FF2B5EF4-FFF2-40B4-BE49-F238E27FC236}">
                <a16:creationId xmlns:a16="http://schemas.microsoft.com/office/drawing/2014/main" id="{4F3F9DDF-DABE-8AC2-4C52-A3CA5C5D027D}"/>
              </a:ext>
            </a:extLst>
          </p:cNvPr>
          <p:cNvGrpSpPr/>
          <p:nvPr/>
        </p:nvGrpSpPr>
        <p:grpSpPr>
          <a:xfrm rot="10800000" flipH="1" flipV="1">
            <a:off x="7920868" y="0"/>
            <a:ext cx="1223132" cy="786181"/>
            <a:chOff x="8082117" y="0"/>
            <a:chExt cx="4109883" cy="1453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42" name="Espaço Reservado para Conteúdo 4">
              <a:extLst>
                <a:ext uri="{FF2B5EF4-FFF2-40B4-BE49-F238E27FC236}">
                  <a16:creationId xmlns:a16="http://schemas.microsoft.com/office/drawing/2014/main" id="{2493ACFF-162F-C095-CFD5-E55148C2D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2117" y="0"/>
              <a:ext cx="4109883" cy="1453943"/>
            </a:xfrm>
            <a:prstGeom prst="rect">
              <a:avLst/>
            </a:prstGeom>
          </p:spPr>
        </p:pic>
        <p:sp>
          <p:nvSpPr>
            <p:cNvPr id="43" name="Retângulo 42">
              <a:extLst>
                <a:ext uri="{FF2B5EF4-FFF2-40B4-BE49-F238E27FC236}">
                  <a16:creationId xmlns:a16="http://schemas.microsoft.com/office/drawing/2014/main" id="{04D2626D-5DFA-8F77-3AAF-DF24E83185A9}"/>
                </a:ext>
              </a:extLst>
            </p:cNvPr>
            <p:cNvSpPr/>
            <p:nvPr/>
          </p:nvSpPr>
          <p:spPr>
            <a:xfrm>
              <a:off x="8824823" y="331635"/>
              <a:ext cx="3055286" cy="6864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44" name="Picture 2" descr="Universidade Federal da Bahia – UFBA – Física Nuclear e Aplicações –  464898/2014-5">
            <a:extLst>
              <a:ext uri="{FF2B5EF4-FFF2-40B4-BE49-F238E27FC236}">
                <a16:creationId xmlns:a16="http://schemas.microsoft.com/office/drawing/2014/main" id="{4C310EF0-C0C4-C49B-00BB-E8BB36992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25" y="-121994"/>
            <a:ext cx="826431" cy="8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B4D8"/>
                </a:solidFill>
              </a:rPr>
              <a:t>METODOLOGIA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Fluxo de Implementação e Correlação entre Ferramentas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" y="1051560"/>
            <a:ext cx="157276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9224" y="1188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922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0312" y="18745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BDGD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" y="225856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77B6"/>
                </a:solidFill>
              </a:rPr>
              <a:t>Coelba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1168" y="2901696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de rede e estimativa de carga por trecho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09928" y="265176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883664" y="2615184"/>
            <a:ext cx="10972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874520" y="1051560"/>
            <a:ext cx="157276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386584" y="1188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38658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947672" y="18745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OpenDSS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47672" y="225856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Simulação Elétrica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47672" y="2843784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potência. Cálculo de tensão e carregamento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47288" y="265176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621024" y="2615184"/>
            <a:ext cx="10972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3611880" y="1051560"/>
            <a:ext cx="157276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4123944" y="1188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12394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85032" y="18745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Motor de 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85032" y="225856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C55E"/>
                </a:solidFill>
              </a:rPr>
              <a:t>ML + Otimização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85032" y="2926081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solar/carga +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setpoints dos REDs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84648" y="265176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5358384" y="2615184"/>
            <a:ext cx="10972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5349240" y="1051560"/>
            <a:ext cx="157276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5861304" y="1188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86130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22392" y="18745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API DSO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22392" y="225856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</a:rPr>
              <a:t>FastAPI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22392" y="2843784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de telemetria. Fronteira DSO ↔ VPP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22008" y="2651760"/>
            <a:ext cx="2834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7095744" y="2615184"/>
            <a:ext cx="109728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7086600" y="1051560"/>
            <a:ext cx="1572768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7598664" y="118872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759866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05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159752" y="1874520"/>
            <a:ext cx="1426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Dashboard VPP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59752" y="225856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EF4444"/>
                </a:solidFill>
              </a:rPr>
              <a:t>Streamlit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159752" y="2849880"/>
            <a:ext cx="14264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Visualização, alertas e indicadores regulatórios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5528" y="4434840"/>
            <a:ext cx="7406640" cy="54864"/>
          </a:xfrm>
          <a:prstGeom prst="rect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274320" y="45262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B4D8"/>
                </a:solidFill>
              </a:rPr>
              <a:t>◄  Loop de Retroalimentação: resultados do despacho recalibram o modelo de previsão  ►</a:t>
            </a:r>
            <a:endParaRPr lang="en-US" sz="900" dirty="0"/>
          </a:p>
        </p:txBody>
      </p:sp>
      <p:pic>
        <p:nvPicPr>
          <p:cNvPr id="45" name="Picture 6" descr="BDGD">
            <a:extLst>
              <a:ext uri="{FF2B5EF4-FFF2-40B4-BE49-F238E27FC236}">
                <a16:creationId xmlns:a16="http://schemas.microsoft.com/office/drawing/2014/main" id="{318D97FE-E1FD-7B51-4423-2F3276D81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02" y="2603754"/>
            <a:ext cx="443484" cy="443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4" descr="Introduction to OpenDSS">
            <a:extLst>
              <a:ext uri="{FF2B5EF4-FFF2-40B4-BE49-F238E27FC236}">
                <a16:creationId xmlns:a16="http://schemas.microsoft.com/office/drawing/2014/main" id="{8424AC8F-98BB-E9D8-947C-0845C5459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064" y="2593848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8" descr="Welcome to PySwarms's documentation! — PySwarms 1.3.0 documentation">
            <a:extLst>
              <a:ext uri="{FF2B5EF4-FFF2-40B4-BE49-F238E27FC236}">
                <a16:creationId xmlns:a16="http://schemas.microsoft.com/office/drawing/2014/main" id="{007B7470-BC27-BB12-31AA-D45873026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496" y="2582414"/>
            <a:ext cx="934885" cy="22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6">
            <a:extLst>
              <a:ext uri="{FF2B5EF4-FFF2-40B4-BE49-F238E27FC236}">
                <a16:creationId xmlns:a16="http://schemas.microsoft.com/office/drawing/2014/main" id="{2FC028F7-2F60-7B8C-88C8-6047DE3E0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188" y="2876554"/>
            <a:ext cx="735500" cy="25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0" descr="FastAPI">
            <a:extLst>
              <a:ext uri="{FF2B5EF4-FFF2-40B4-BE49-F238E27FC236}">
                <a16:creationId xmlns:a16="http://schemas.microsoft.com/office/drawing/2014/main" id="{A42A7D45-47CF-E0C3-2232-6F8E26A92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848" y="2688487"/>
            <a:ext cx="1183123" cy="426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20" descr="Brand • Streamlit">
            <a:extLst>
              <a:ext uri="{FF2B5EF4-FFF2-40B4-BE49-F238E27FC236}">
                <a16:creationId xmlns:a16="http://schemas.microsoft.com/office/drawing/2014/main" id="{9C360848-D36B-E5B3-2D89-8365B3B2A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740" y="2699542"/>
            <a:ext cx="1252488" cy="347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" name="Agrupar 50">
            <a:extLst>
              <a:ext uri="{FF2B5EF4-FFF2-40B4-BE49-F238E27FC236}">
                <a16:creationId xmlns:a16="http://schemas.microsoft.com/office/drawing/2014/main" id="{BA5F91A5-CF6A-D76D-DE3C-47AC71A1FE1F}"/>
              </a:ext>
            </a:extLst>
          </p:cNvPr>
          <p:cNvGrpSpPr/>
          <p:nvPr/>
        </p:nvGrpSpPr>
        <p:grpSpPr>
          <a:xfrm rot="10800000" flipH="1" flipV="1">
            <a:off x="7920868" y="0"/>
            <a:ext cx="1223132" cy="786181"/>
            <a:chOff x="8082117" y="0"/>
            <a:chExt cx="4109883" cy="1453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2" name="Espaço Reservado para Conteúdo 4">
              <a:extLst>
                <a:ext uri="{FF2B5EF4-FFF2-40B4-BE49-F238E27FC236}">
                  <a16:creationId xmlns:a16="http://schemas.microsoft.com/office/drawing/2014/main" id="{1D87806B-8DB5-3FAB-6DA6-C5D1AA6F4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2117" y="0"/>
              <a:ext cx="4109883" cy="1453943"/>
            </a:xfrm>
            <a:prstGeom prst="rect">
              <a:avLst/>
            </a:prstGeom>
          </p:spPr>
        </p:pic>
        <p:sp>
          <p:nvSpPr>
            <p:cNvPr id="53" name="Retângulo 52">
              <a:extLst>
                <a:ext uri="{FF2B5EF4-FFF2-40B4-BE49-F238E27FC236}">
                  <a16:creationId xmlns:a16="http://schemas.microsoft.com/office/drawing/2014/main" id="{EF54A36F-23A0-38A5-6D96-0B703E64B5E1}"/>
                </a:ext>
              </a:extLst>
            </p:cNvPr>
            <p:cNvSpPr/>
            <p:nvPr/>
          </p:nvSpPr>
          <p:spPr>
            <a:xfrm>
              <a:off x="8824823" y="331635"/>
              <a:ext cx="3055286" cy="6864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54" name="Picture 2" descr="Universidade Federal da Bahia – UFBA – Física Nuclear e Aplicações –  464898/2014-5">
            <a:extLst>
              <a:ext uri="{FF2B5EF4-FFF2-40B4-BE49-F238E27FC236}">
                <a16:creationId xmlns:a16="http://schemas.microsoft.com/office/drawing/2014/main" id="{BAEF5853-8E08-2129-6CCE-BD4F9DF310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25" y="-121994"/>
            <a:ext cx="826431" cy="8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2C55E"/>
                </a:solidFill>
              </a:rPr>
              <a:t>VALOR GERADO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Benefícios Esperados com a Implementação da VPP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2296" cy="1783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15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Técnico — Qualidade da Rede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 do perfil de tensão nas pontas de linha (0,92–1,05 pu)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Alívio de sobrecargas térmicas nos trechos críticos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Postergação de obras de reforço de infraestrutura (CAPEX)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00584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754880" y="1005840"/>
            <a:ext cx="82296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4300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11155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Regulatório — Conformidade ANEEL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37760" y="155448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transgressões de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(Módulo 8 PRODIST)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dos índices DEC e FEC do alimentador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exposição a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compensação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interrupções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(DEC e FEC)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90146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274320" y="2971800"/>
            <a:ext cx="82296" cy="17830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089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0815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Financeiro — Retorno à Distribuidora e a VPP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3520440"/>
            <a:ext cx="39635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Distribuidora:</a:t>
            </a:r>
          </a:p>
          <a:p>
            <a:pPr marL="800100" lvl="1" indent="-342900">
              <a:spcAft>
                <a:spcPts val="4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regulatórias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principalmente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decorrentes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interrupções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tensão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800100" lvl="1" indent="-342900">
              <a:spcAft>
                <a:spcPts val="4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Postergação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8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VPP:</a:t>
            </a:r>
          </a:p>
          <a:p>
            <a:pPr marL="800100" lvl="1" indent="-342900">
              <a:spcAft>
                <a:spcPts val="4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tarifária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tarifas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horária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800100" lvl="1" indent="-342900">
              <a:spcAft>
                <a:spcPts val="400"/>
              </a:spcAft>
              <a:buSzPct val="100000"/>
              <a:buFont typeface="Courier New" panose="02070309020205020404" pitchFamily="49" charset="0"/>
              <a:buChar char="o"/>
            </a:pP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Possível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arbitragem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</a:t>
            </a: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ancilares</a:t>
            </a:r>
            <a:endParaRPr lang="en-US" sz="8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4754880" y="297180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4754880" y="2971800"/>
            <a:ext cx="82296" cy="1783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10896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94960" y="30815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Social e Ambiental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937760" y="3520440"/>
            <a:ext cx="3794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confiabilidade para o agronegócio regional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consumidores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residenciais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comerciais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emissões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associadas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0B4D8"/>
                </a:solidFill>
              </a:rPr>
              <a:t>A integração VPP→DSO fecha o ciclo: despacho otimizado → conformidade regulatória → benefício econômico e social</a:t>
            </a:r>
            <a:endParaRPr lang="en-US" sz="950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7CAFCFEB-6689-DB2B-4045-F2BF1C2BDB9C}"/>
              </a:ext>
            </a:extLst>
          </p:cNvPr>
          <p:cNvGrpSpPr/>
          <p:nvPr/>
        </p:nvGrpSpPr>
        <p:grpSpPr>
          <a:xfrm rot="10800000" flipH="1" flipV="1">
            <a:off x="7920868" y="0"/>
            <a:ext cx="1223132" cy="786181"/>
            <a:chOff x="8082117" y="0"/>
            <a:chExt cx="4109883" cy="1453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7" name="Espaço Reservado para Conteúdo 4">
              <a:extLst>
                <a:ext uri="{FF2B5EF4-FFF2-40B4-BE49-F238E27FC236}">
                  <a16:creationId xmlns:a16="http://schemas.microsoft.com/office/drawing/2014/main" id="{FA822464-7358-FD09-660D-7AD4F0E19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2117" y="0"/>
              <a:ext cx="4109883" cy="1453943"/>
            </a:xfrm>
            <a:prstGeom prst="rect">
              <a:avLst/>
            </a:prstGeom>
          </p:spPr>
        </p:pic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id="{099FEA9F-26DB-3167-766A-6D7C38C774D8}"/>
                </a:ext>
              </a:extLst>
            </p:cNvPr>
            <p:cNvSpPr/>
            <p:nvPr/>
          </p:nvSpPr>
          <p:spPr>
            <a:xfrm>
              <a:off x="8824823" y="331635"/>
              <a:ext cx="3055286" cy="6864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9" name="Picture 2" descr="Universidade Federal da Bahia – UFBA – Física Nuclear e Aplicações –  464898/2014-5">
            <a:extLst>
              <a:ext uri="{FF2B5EF4-FFF2-40B4-BE49-F238E27FC236}">
                <a16:creationId xmlns:a16="http://schemas.microsoft.com/office/drawing/2014/main" id="{DBF73F92-FDAF-2217-F06E-EB6FA47DD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25" y="-121994"/>
            <a:ext cx="826431" cy="8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9E0B"/>
                </a:solidFill>
              </a:rPr>
              <a:t>STATUS ATUAL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Protótipo V1 — Infraestrutura Base com Dados Dummy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393192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 que já foi implementado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150876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5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(GHI, Temp, Vento)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bancos SQLite separados (DSO e VPP)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com endpoints /dados_alimentador e /dados_barra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do alimentador REG09V2 integrado ao dashboard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PyDeck (dark/satélite) com telemetria por trecho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Telemetria, Previsão Meteorológica, Financeiro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937760" y="900684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937760" y="914400"/>
            <a:ext cx="3931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05156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0408" y="1051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Limitações e próximas evoluções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⚠ Dados ainda sintéticos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029200" y="18105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Substituir pela estimativa de carga real via BDGD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02920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⚠ </a:t>
            </a:r>
            <a:r>
              <a:rPr lang="en-US" sz="1100" b="1" dirty="0" err="1">
                <a:solidFill>
                  <a:srgbClr val="F59E0B"/>
                </a:solidFill>
              </a:rPr>
              <a:t>Integrar</a:t>
            </a:r>
            <a:r>
              <a:rPr lang="en-US" sz="1100" b="1" dirty="0">
                <a:solidFill>
                  <a:srgbClr val="F59E0B"/>
                </a:solidFill>
              </a:rPr>
              <a:t> dados </a:t>
            </a:r>
            <a:r>
              <a:rPr lang="en-US" sz="1100" b="1" dirty="0" err="1">
                <a:solidFill>
                  <a:srgbClr val="F59E0B"/>
                </a:solidFill>
              </a:rPr>
              <a:t>elétricos</a:t>
            </a:r>
            <a:r>
              <a:rPr lang="en-US" sz="1100" b="1" dirty="0">
                <a:solidFill>
                  <a:srgbClr val="F59E0B"/>
                </a:solidFill>
              </a:rPr>
              <a:t> “reais” </a:t>
            </a:r>
            <a:r>
              <a:rPr lang="en-US" sz="1100" b="1" dirty="0" err="1">
                <a:solidFill>
                  <a:srgbClr val="F59E0B"/>
                </a:solidFill>
              </a:rPr>
              <a:t>ao</a:t>
            </a:r>
            <a:r>
              <a:rPr lang="en-US" sz="1100" b="1" dirty="0">
                <a:solidFill>
                  <a:srgbClr val="F59E0B"/>
                </a:solidFill>
              </a:rPr>
              <a:t> </a:t>
            </a:r>
            <a:r>
              <a:rPr lang="en-US" sz="1100" b="1" dirty="0" err="1">
                <a:solidFill>
                  <a:srgbClr val="F59E0B"/>
                </a:solidFill>
              </a:rPr>
              <a:t>mapa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029200" y="261518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</a:t>
            </a:r>
            <a:r>
              <a:rPr lang="en-US" sz="1050" dirty="0" err="1">
                <a:solidFill>
                  <a:srgbClr val="64748B"/>
                </a:solidFill>
              </a:rPr>
              <a:t>Desenvolver</a:t>
            </a:r>
            <a:r>
              <a:rPr lang="en-US" sz="1050" dirty="0">
                <a:solidFill>
                  <a:srgbClr val="64748B"/>
                </a:solidFill>
              </a:rPr>
              <a:t> backend com </a:t>
            </a:r>
            <a:r>
              <a:rPr lang="en-US" sz="1050" dirty="0" err="1">
                <a:solidFill>
                  <a:srgbClr val="64748B"/>
                </a:solidFill>
              </a:rPr>
              <a:t>os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cálculos</a:t>
            </a:r>
            <a:r>
              <a:rPr lang="en-US" sz="1050" dirty="0">
                <a:solidFill>
                  <a:srgbClr val="64748B"/>
                </a:solidFill>
              </a:rPr>
              <a:t> de </a:t>
            </a:r>
            <a:r>
              <a:rPr lang="en-US" sz="1050" dirty="0" err="1">
                <a:solidFill>
                  <a:srgbClr val="64748B"/>
                </a:solidFill>
              </a:rPr>
              <a:t>fluxo</a:t>
            </a:r>
            <a:r>
              <a:rPr lang="en-US" sz="1050" dirty="0">
                <a:solidFill>
                  <a:srgbClr val="64748B"/>
                </a:solidFill>
              </a:rPr>
              <a:t> de </a:t>
            </a:r>
            <a:r>
              <a:rPr lang="en-US" sz="1050" dirty="0" err="1">
                <a:solidFill>
                  <a:srgbClr val="64748B"/>
                </a:solidFill>
              </a:rPr>
              <a:t>potência</a:t>
            </a:r>
            <a:r>
              <a:rPr lang="en-US" sz="1050" dirty="0">
                <a:solidFill>
                  <a:srgbClr val="64748B"/>
                </a:solidFill>
              </a:rPr>
              <a:t> e </a:t>
            </a:r>
            <a:r>
              <a:rPr lang="en-US" sz="1050" dirty="0" err="1">
                <a:solidFill>
                  <a:srgbClr val="64748B"/>
                </a:solidFill>
              </a:rPr>
              <a:t>perfil</a:t>
            </a:r>
            <a:r>
              <a:rPr lang="en-US" sz="1050" dirty="0">
                <a:solidFill>
                  <a:srgbClr val="64748B"/>
                </a:solidFill>
              </a:rPr>
              <a:t> de </a:t>
            </a:r>
            <a:r>
              <a:rPr lang="en-US" sz="1050" dirty="0" err="1">
                <a:solidFill>
                  <a:srgbClr val="64748B"/>
                </a:solidFill>
              </a:rPr>
              <a:t>tensão</a:t>
            </a:r>
            <a:r>
              <a:rPr lang="en-US" sz="1050" dirty="0">
                <a:solidFill>
                  <a:srgbClr val="64748B"/>
                </a:solidFill>
              </a:rPr>
              <a:t> do </a:t>
            </a:r>
            <a:r>
              <a:rPr lang="en-US" sz="1050" dirty="0" err="1">
                <a:solidFill>
                  <a:srgbClr val="64748B"/>
                </a:solidFill>
              </a:rPr>
              <a:t>alimentador</a:t>
            </a:r>
            <a:r>
              <a:rPr lang="en-US" sz="1050" dirty="0">
                <a:solidFill>
                  <a:srgbClr val="64748B"/>
                </a:solidFill>
              </a:rPr>
              <a:t> e </a:t>
            </a:r>
            <a:r>
              <a:rPr lang="en-US" sz="1050" dirty="0" err="1">
                <a:solidFill>
                  <a:srgbClr val="64748B"/>
                </a:solidFill>
              </a:rPr>
              <a:t>enviar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ao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mapa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029200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⚠ Motor VPP ausente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029200" y="341985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</a:t>
            </a:r>
            <a:r>
              <a:rPr lang="en-US" sz="1050" dirty="0" err="1">
                <a:solidFill>
                  <a:srgbClr val="64748B"/>
                </a:solidFill>
              </a:rPr>
              <a:t>Conectar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OpenDSS+otimização</a:t>
            </a:r>
            <a:r>
              <a:rPr lang="en-US" sz="1050" dirty="0">
                <a:solidFill>
                  <a:srgbClr val="64748B"/>
                </a:solidFill>
              </a:rPr>
              <a:t> como solver de fluxo de </a:t>
            </a:r>
            <a:r>
              <a:rPr lang="en-US" sz="1050" dirty="0" err="1">
                <a:solidFill>
                  <a:srgbClr val="64748B"/>
                </a:solidFill>
              </a:rPr>
              <a:t>potência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ótimo</a:t>
            </a:r>
            <a:r>
              <a:rPr lang="en-US" sz="1050" dirty="0">
                <a:solidFill>
                  <a:srgbClr val="64748B"/>
                </a:solidFill>
              </a:rPr>
              <a:t> (FPO)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5029200" y="3968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⚠ </a:t>
            </a:r>
            <a:r>
              <a:rPr lang="en-US" sz="1100" b="1" dirty="0" err="1">
                <a:solidFill>
                  <a:srgbClr val="F59E0B"/>
                </a:solidFill>
              </a:rPr>
              <a:t>Definição</a:t>
            </a:r>
            <a:r>
              <a:rPr lang="en-US" sz="1100" b="1" dirty="0">
                <a:solidFill>
                  <a:srgbClr val="F59E0B"/>
                </a:solidFill>
              </a:rPr>
              <a:t> de </a:t>
            </a:r>
            <a:r>
              <a:rPr lang="en-US" sz="1100" b="1" dirty="0" err="1">
                <a:solidFill>
                  <a:srgbClr val="F59E0B"/>
                </a:solidFill>
              </a:rPr>
              <a:t>metodologia</a:t>
            </a:r>
            <a:r>
              <a:rPr lang="en-US" sz="1100" b="1" dirty="0">
                <a:solidFill>
                  <a:srgbClr val="F59E0B"/>
                </a:solidFill>
              </a:rPr>
              <a:t> </a:t>
            </a:r>
            <a:r>
              <a:rPr lang="en-US" sz="1100" b="1" dirty="0" err="1">
                <a:solidFill>
                  <a:srgbClr val="F59E0B"/>
                </a:solidFill>
              </a:rPr>
              <a:t>financeira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29200" y="4224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→ </a:t>
            </a:r>
            <a:r>
              <a:rPr lang="en-US" sz="1050" dirty="0" err="1">
                <a:solidFill>
                  <a:srgbClr val="64748B"/>
                </a:solidFill>
              </a:rPr>
              <a:t>Definição</a:t>
            </a:r>
            <a:r>
              <a:rPr lang="en-US" sz="1050" dirty="0">
                <a:solidFill>
                  <a:srgbClr val="64748B"/>
                </a:solidFill>
              </a:rPr>
              <a:t> do </a:t>
            </a:r>
            <a:r>
              <a:rPr lang="en-US" sz="1050" dirty="0" err="1">
                <a:solidFill>
                  <a:srgbClr val="64748B"/>
                </a:solidFill>
              </a:rPr>
              <a:t>modelo</a:t>
            </a:r>
            <a:r>
              <a:rPr lang="en-US" sz="1050" dirty="0">
                <a:solidFill>
                  <a:srgbClr val="64748B"/>
                </a:solidFill>
              </a:rPr>
              <a:t> de </a:t>
            </a:r>
            <a:r>
              <a:rPr lang="en-US" sz="1050" dirty="0" err="1">
                <a:solidFill>
                  <a:srgbClr val="64748B"/>
                </a:solidFill>
              </a:rPr>
              <a:t>negócio</a:t>
            </a:r>
            <a:r>
              <a:rPr lang="en-US" sz="1050" dirty="0">
                <a:solidFill>
                  <a:srgbClr val="64748B"/>
                </a:solidFill>
              </a:rPr>
              <a:t> (</a:t>
            </a:r>
            <a:r>
              <a:rPr lang="en-US" sz="1050" dirty="0" err="1">
                <a:solidFill>
                  <a:srgbClr val="64748B"/>
                </a:solidFill>
              </a:rPr>
              <a:t>possivelmente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desenvolvido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pensando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em</a:t>
            </a:r>
            <a:r>
              <a:rPr lang="en-US" sz="1050" dirty="0">
                <a:solidFill>
                  <a:srgbClr val="64748B"/>
                </a:solidFill>
              </a:rPr>
              <a:t> </a:t>
            </a:r>
            <a:r>
              <a:rPr lang="en-US" sz="1050" dirty="0" err="1">
                <a:solidFill>
                  <a:srgbClr val="64748B"/>
                </a:solidFill>
              </a:rPr>
              <a:t>cenários</a:t>
            </a:r>
            <a:r>
              <a:rPr lang="en-US" sz="1050" dirty="0">
                <a:solidFill>
                  <a:srgbClr val="64748B"/>
                </a:solidFill>
              </a:rPr>
              <a:t>) para a </a:t>
            </a:r>
            <a:r>
              <a:rPr lang="en-US" sz="1050" dirty="0" err="1">
                <a:solidFill>
                  <a:srgbClr val="64748B"/>
                </a:solidFill>
              </a:rPr>
              <a:t>distribuidora</a:t>
            </a:r>
            <a:r>
              <a:rPr lang="en-US" sz="1050" dirty="0">
                <a:solidFill>
                  <a:srgbClr val="64748B"/>
                </a:solidFill>
              </a:rPr>
              <a:t> e para a VPP</a:t>
            </a:r>
            <a:endParaRPr lang="en-US" sz="1050" dirty="0"/>
          </a:p>
        </p:txBody>
      </p: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96F694F9-9FD4-3C91-DC74-0E62BDCC0F9C}"/>
              </a:ext>
            </a:extLst>
          </p:cNvPr>
          <p:cNvGrpSpPr/>
          <p:nvPr/>
        </p:nvGrpSpPr>
        <p:grpSpPr>
          <a:xfrm rot="10800000" flipH="1" flipV="1">
            <a:off x="7920868" y="0"/>
            <a:ext cx="1223132" cy="786181"/>
            <a:chOff x="8082117" y="0"/>
            <a:chExt cx="4109883" cy="145394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23" name="Espaço Reservado para Conteúdo 4">
              <a:extLst>
                <a:ext uri="{FF2B5EF4-FFF2-40B4-BE49-F238E27FC236}">
                  <a16:creationId xmlns:a16="http://schemas.microsoft.com/office/drawing/2014/main" id="{8ADA3564-0E66-7330-4B61-B5B1D52F9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2117" y="0"/>
              <a:ext cx="4109883" cy="1453943"/>
            </a:xfrm>
            <a:prstGeom prst="rect">
              <a:avLst/>
            </a:prstGeom>
          </p:spPr>
        </p:pic>
        <p:sp>
          <p:nvSpPr>
            <p:cNvPr id="24" name="Retângulo 23">
              <a:extLst>
                <a:ext uri="{FF2B5EF4-FFF2-40B4-BE49-F238E27FC236}">
                  <a16:creationId xmlns:a16="http://schemas.microsoft.com/office/drawing/2014/main" id="{4657B684-AC17-72D1-5007-112B9F7F8FE6}"/>
                </a:ext>
              </a:extLst>
            </p:cNvPr>
            <p:cNvSpPr/>
            <p:nvPr/>
          </p:nvSpPr>
          <p:spPr>
            <a:xfrm>
              <a:off x="8824823" y="331635"/>
              <a:ext cx="3055286" cy="6864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5" name="Picture 2" descr="Universidade Federal da Bahia – UFBA – Física Nuclear e Aplicações –  464898/2014-5">
            <a:extLst>
              <a:ext uri="{FF2B5EF4-FFF2-40B4-BE49-F238E27FC236}">
                <a16:creationId xmlns:a16="http://schemas.microsoft.com/office/drawing/2014/main" id="{2DDA1986-346E-53DE-AF30-33D1673AF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25" y="-121994"/>
            <a:ext cx="826431" cy="82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CE46CB9-0D0C-4543-A55C-C8C556AA60AB}">
  <we:reference id="wa200010001" version="1.0.0.1" store="pt-BR" storeType="OMEX"/>
  <we:alternateReferences>
    <we:reference id="WA200010001" version="1.0.0.1" store="WA200010001" storeType="OMEX"/>
  </we:alternateReferences>
  <we:properties>
    <we:property name="claude.fileId" value="&quot;03dc3eb3-65de-4218-be93-4687d6bc0d2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867</Words>
  <Application>Microsoft Office PowerPoint</Application>
  <PresentationFormat>Apresentação na tela (16:9)</PresentationFormat>
  <Paragraphs>141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VPP Control Center - Roadmap Tecnológico</dc:title>
  <dc:subject>PptxGenJS Presentation</dc:subject>
  <dc:creator>Mestrado SENAI CIMATEC</dc:creator>
  <cp:lastModifiedBy>Leonardo Jaime Machado Simoes</cp:lastModifiedBy>
  <cp:revision>5</cp:revision>
  <dcterms:created xsi:type="dcterms:W3CDTF">2026-05-05T01:46:49Z</dcterms:created>
  <dcterms:modified xsi:type="dcterms:W3CDTF">2026-05-07T20:13:13Z</dcterms:modified>
</cp:coreProperties>
</file>